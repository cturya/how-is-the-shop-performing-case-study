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7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Calibri"/>
              </a:rPr>
              <a:t>Monthly revenue ($)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revenue</c:v>
                </c:pt>
              </c:strCache>
            </c:strRef>
          </c:tx>
          <c:spPr>
            <a:solidFill>
              <a:srgbClr val="1E2761"/>
            </a:solidFill>
            <a:ln w="3175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Sheet1!$A$2:$A$31</c:f>
              <c:multiLvlStrCache>
                <c:ptCount val="30"/>
                <c:lvl>
                  <c:pt idx="0">
                    <c:v>Jan-24</c:v>
                  </c:pt>
                  <c:pt idx="1">
                    <c:v>Feb-24</c:v>
                  </c:pt>
                  <c:pt idx="2">
                    <c:v>Mar-24</c:v>
                  </c:pt>
                  <c:pt idx="3">
                    <c:v>Apr-24</c:v>
                  </c:pt>
                  <c:pt idx="4">
                    <c:v>May-24</c:v>
                  </c:pt>
                  <c:pt idx="5">
                    <c:v>Jun-24</c:v>
                  </c:pt>
                  <c:pt idx="6">
                    <c:v>Jul-24</c:v>
                  </c:pt>
                  <c:pt idx="7">
                    <c:v>Aug-24</c:v>
                  </c:pt>
                  <c:pt idx="8">
                    <c:v>Sep-24</c:v>
                  </c:pt>
                  <c:pt idx="9">
                    <c:v>Oct-24</c:v>
                  </c:pt>
                  <c:pt idx="10">
                    <c:v>Nov-24</c:v>
                  </c:pt>
                  <c:pt idx="11">
                    <c:v>Dec-24</c:v>
                  </c:pt>
                  <c:pt idx="12">
                    <c:v>Jan-25</c:v>
                  </c:pt>
                  <c:pt idx="13">
                    <c:v>Feb-25</c:v>
                  </c:pt>
                  <c:pt idx="14">
                    <c:v>Mar-25</c:v>
                  </c:pt>
                  <c:pt idx="15">
                    <c:v>Apr-25</c:v>
                  </c:pt>
                  <c:pt idx="16">
                    <c:v>May-25</c:v>
                  </c:pt>
                  <c:pt idx="17">
                    <c:v>Jun-25</c:v>
                  </c:pt>
                  <c:pt idx="18">
                    <c:v>Jul-25</c:v>
                  </c:pt>
                  <c:pt idx="19">
                    <c:v>Aug-25</c:v>
                  </c:pt>
                  <c:pt idx="20">
                    <c:v>Sep-25</c:v>
                  </c:pt>
                  <c:pt idx="21">
                    <c:v>Oct-25</c:v>
                  </c:pt>
                  <c:pt idx="22">
                    <c:v>Nov-25</c:v>
                  </c:pt>
                  <c:pt idx="23">
                    <c:v>Dec-25</c:v>
                  </c:pt>
                  <c:pt idx="24">
                    <c:v>Jan-26</c:v>
                  </c:pt>
                  <c:pt idx="25">
                    <c:v>Feb-26</c:v>
                  </c:pt>
                  <c:pt idx="26">
                    <c:v>Mar-26</c:v>
                  </c:pt>
                  <c:pt idx="27">
                    <c:v>Apr-26</c:v>
                  </c:pt>
                  <c:pt idx="28">
                    <c:v>May-26</c:v>
                  </c:pt>
                  <c:pt idx="29">
                    <c:v>Jun-26</c:v>
                  </c:pt>
                </c:lvl>
              </c:multiLvlStrCache>
            </c:multiLvl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105805</c:v>
                </c:pt>
                <c:pt idx="1">
                  <c:v>97071</c:v>
                </c:pt>
                <c:pt idx="2">
                  <c:v>114125</c:v>
                </c:pt>
                <c:pt idx="3">
                  <c:v>102150</c:v>
                </c:pt>
                <c:pt idx="4">
                  <c:v>107332</c:v>
                </c:pt>
                <c:pt idx="5">
                  <c:v>100705</c:v>
                </c:pt>
                <c:pt idx="6">
                  <c:v>113256</c:v>
                </c:pt>
                <c:pt idx="7">
                  <c:v>108897</c:v>
                </c:pt>
                <c:pt idx="8">
                  <c:v>100182</c:v>
                </c:pt>
                <c:pt idx="9">
                  <c:v>102915</c:v>
                </c:pt>
                <c:pt idx="10">
                  <c:v>104820</c:v>
                </c:pt>
                <c:pt idx="11">
                  <c:v>106892</c:v>
                </c:pt>
                <c:pt idx="12">
                  <c:v>102580</c:v>
                </c:pt>
                <c:pt idx="13">
                  <c:v>95722</c:v>
                </c:pt>
                <c:pt idx="14">
                  <c:v>103310</c:v>
                </c:pt>
                <c:pt idx="15">
                  <c:v>101288</c:v>
                </c:pt>
                <c:pt idx="16">
                  <c:v>112485</c:v>
                </c:pt>
                <c:pt idx="17">
                  <c:v>110760</c:v>
                </c:pt>
                <c:pt idx="18">
                  <c:v>104881</c:v>
                </c:pt>
                <c:pt idx="19">
                  <c:v>105342</c:v>
                </c:pt>
                <c:pt idx="20">
                  <c:v>102617</c:v>
                </c:pt>
                <c:pt idx="21">
                  <c:v>106696</c:v>
                </c:pt>
                <c:pt idx="22">
                  <c:v>114106</c:v>
                </c:pt>
                <c:pt idx="23">
                  <c:v>100295</c:v>
                </c:pt>
                <c:pt idx="24">
                  <c:v>107843</c:v>
                </c:pt>
                <c:pt idx="25">
                  <c:v>64450</c:v>
                </c:pt>
                <c:pt idx="26">
                  <c:v>71398</c:v>
                </c:pt>
                <c:pt idx="27">
                  <c:v>75205</c:v>
                </c:pt>
                <c:pt idx="28">
                  <c:v>75105</c:v>
                </c:pt>
                <c:pt idx="29">
                  <c:v>70144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8DCE8"/>
            </a:solidFill>
            <a:prstDash val="solid"/>
            <a:round/>
          </a:ln>
        </c:spPr>
        <c:txPr>
          <a:bodyPr rot="2700000"/>
          <a:lstStyle/>
          <a:p>
            <a:pPr>
              <a:defRPr sz="800" b="0" i="0" u="none" strike="noStrike">
                <a:solidFill>
                  <a:srgbClr val="5B67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EAF2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7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Calibri"/>
              </a:rPr>
              <a:t>Revenue by category ($)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Electronics</c:v>
                  </c:pt>
                  <c:pt idx="1">
                    <c:v>Accessories</c:v>
                  </c:pt>
                  <c:pt idx="2">
                    <c:v>Home Office</c:v>
                  </c:pt>
                  <c:pt idx="3">
                    <c:v>Wearables</c:v>
                  </c:pt>
                  <c:pt idx="4">
                    <c:v>Gaming</c:v>
                  </c:pt>
                  <c:pt idx="5">
                    <c:v>Stationery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1511165</c:v>
                </c:pt>
                <c:pt idx="1">
                  <c:v>482202</c:v>
                </c:pt>
                <c:pt idx="2">
                  <c:v>389667</c:v>
                </c:pt>
                <c:pt idx="3">
                  <c:v>374534</c:v>
                </c:pt>
                <c:pt idx="4">
                  <c:v>173359</c:v>
                </c:pt>
                <c:pt idx="5">
                  <c:v>57453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D8DCE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E276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Calibri"/>
              </a:rPr>
              <a:t>Top 5 products by revenue ($)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E8630A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Headphones</c:v>
                  </c:pt>
                  <c:pt idx="1">
                    <c:v>Office Chair</c:v>
                  </c:pt>
                  <c:pt idx="2">
                    <c:v>Tablet</c:v>
                  </c:pt>
                  <c:pt idx="3">
                    <c:v>Smart Watch</c:v>
                  </c:pt>
                  <c:pt idx="4">
                    <c:v>Microphone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291911</c:v>
                </c:pt>
                <c:pt idx="1">
                  <c:v>288117</c:v>
                </c:pt>
                <c:pt idx="2">
                  <c:v>243789</c:v>
                </c:pt>
                <c:pt idx="3">
                  <c:v>223542</c:v>
                </c:pt>
                <c:pt idx="4">
                  <c:v>203350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D8DCE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E276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Calibri"/>
              </a:rPr>
              <a:t>Revenue by city ($)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Tehran</c:v>
                  </c:pt>
                  <c:pt idx="1">
                    <c:v>Mashhad</c:v>
                  </c:pt>
                  <c:pt idx="2">
                    <c:v>Karaj</c:v>
                  </c:pt>
                  <c:pt idx="3">
                    <c:v>Isfahan</c:v>
                  </c:pt>
                  <c:pt idx="4">
                    <c:v>Shiraz</c:v>
                  </c:pt>
                  <c:pt idx="5">
                    <c:v>Tabriz</c:v>
                  </c:pt>
                  <c:pt idx="6">
                    <c:v>Ahvaz</c:v>
                  </c:pt>
                  <c:pt idx="7">
                    <c:v>Rasht</c:v>
                  </c:pt>
                  <c:pt idx="8">
                    <c:v>Kerman</c:v>
                  </c:pt>
                  <c:pt idx="9">
                    <c:v>Qom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822878</c:v>
                </c:pt>
                <c:pt idx="1">
                  <c:v>376771</c:v>
                </c:pt>
                <c:pt idx="2">
                  <c:v>297642</c:v>
                </c:pt>
                <c:pt idx="3">
                  <c:v>287804</c:v>
                </c:pt>
                <c:pt idx="4">
                  <c:v>271829</c:v>
                </c:pt>
                <c:pt idx="5">
                  <c:v>253339</c:v>
                </c:pt>
                <c:pt idx="6">
                  <c:v>177734</c:v>
                </c:pt>
                <c:pt idx="7">
                  <c:v>170744</c:v>
                </c:pt>
                <c:pt idx="8">
                  <c:v>148414</c:v>
                </c:pt>
                <c:pt idx="9">
                  <c:v>141027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85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D8DCE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E276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Calibri"/>
              </a:rPr>
              <a:t>Order status (% of order lines)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orders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Completed</c:v>
                  </c:pt>
                  <c:pt idx="1">
                    <c:v>Cancelled</c:v>
                  </c:pt>
                  <c:pt idx="2">
                    <c:v>Returned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92</c:v>
                </c:pt>
                <c:pt idx="1">
                  <c:v>4.9</c:v>
                </c:pt>
                <c:pt idx="2">
                  <c:v>3.1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8DCE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76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Calibri"/>
              </a:rPr>
              <a:t>Payment status (% of order lines)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payments</c:v>
                </c:pt>
              </c:strCache>
            </c:strRef>
          </c:tx>
          <c:spPr>
            <a:solidFill>
              <a:srgbClr val="5B6785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Paid</c:v>
                  </c:pt>
                  <c:pt idx="1">
                    <c:v>Failed</c:v>
                  </c:pt>
                  <c:pt idx="2">
                    <c:v>Refunded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93.1</c:v>
                </c:pt>
                <c:pt idx="1">
                  <c:v>3.9</c:v>
                </c:pt>
                <c:pt idx="2">
                  <c:v>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8DCE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76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Calibri"/>
              </a:rPr>
              <a:t>Average revenue vs. average units per order, by discount level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Avg. revenue per order ($)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0%</c:v>
                  </c:pt>
                  <c:pt idx="1">
                    <c:v>5%</c:v>
                  </c:pt>
                  <c:pt idx="2">
                    <c:v>10%</c:v>
                  </c:pt>
                  <c:pt idx="3">
                    <c:v>15%</c:v>
                  </c:pt>
                  <c:pt idx="4">
                    <c:v>20%</c:v>
                  </c:pt>
                  <c:pt idx="5">
                    <c:v>30%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74.87</c:v>
                </c:pt>
                <c:pt idx="1">
                  <c:v>71.94</c:v>
                </c:pt>
                <c:pt idx="2">
                  <c:v>68.79</c:v>
                </c:pt>
                <c:pt idx="3">
                  <c:v>64.55</c:v>
                </c:pt>
                <c:pt idx="4">
                  <c:v>61.61</c:v>
                </c:pt>
                <c:pt idx="5">
                  <c:v>55.68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761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Avg. units per order</c:v>
                </c:pt>
              </c:strCache>
            </c:strRef>
          </c:tx>
          <c:spPr>
            <a:solidFill>
              <a:srgbClr val="E8630A"/>
            </a:solidFill>
            <a:ln w="31750" cap="flat">
              <a:solidFill>
                <a:srgbClr val="E8630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8630A"/>
              </a:solidFill>
              <a:ln w="9525" cap="flat">
                <a:solidFill>
                  <a:srgbClr val="E8630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0%</c:v>
                  </c:pt>
                  <c:pt idx="1">
                    <c:v>5%</c:v>
                  </c:pt>
                  <c:pt idx="2">
                    <c:v>10%</c:v>
                  </c:pt>
                  <c:pt idx="3">
                    <c:v>15%</c:v>
                  </c:pt>
                  <c:pt idx="4">
                    <c:v>20%</c:v>
                  </c:pt>
                  <c:pt idx="5">
                    <c:v>30%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1.87</c:v>
                </c:pt>
                <c:pt idx="1">
                  <c:v>1.9</c:v>
                </c:pt>
                <c:pt idx="2">
                  <c:v>1.89</c:v>
                </c:pt>
                <c:pt idx="3">
                  <c:v>1.88</c:v>
                </c:pt>
                <c:pt idx="4">
                  <c:v>1.88</c:v>
                </c:pt>
                <c:pt idx="5">
                  <c:v>1.88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8DCE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76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EAF2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Avg. revenue per order ($)</a:t>
                </a:r>
              </a:p>
            </c:rich>
          </c:tx>
          <c:layout/>
          <c:overlay val="0"/>
        </c:title>
        <c:numFmt formatCode="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7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  <c:max val="3"/>
          <c:min val="0"/>
        </c:scaling>
        <c:delete val="0"/>
        <c:axPos val="r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Avg. units per order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785"/>
                </a:solidFill>
                <a:latin typeface="Arial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B6785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60520"/>
            <a:ext cx="12188952" cy="18288"/>
          </a:xfrm>
          <a:prstGeom prst="rect">
            <a:avLst/>
          </a:prstGeom>
          <a:solidFill>
            <a:srgbClr val="CADCFC">
              <a:alpha val="6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23317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IS THE SHOP PERFORMING?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1546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growth and customer review — January 2024 to June 2026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394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the Head of Operations  |  Source: customers, orders, payments and products data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607040" y="4572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three things that matter most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20440" cy="4480560"/>
          </a:xfrm>
          <a:prstGeom prst="roundRect">
            <a:avLst>
              <a:gd name="adj" fmla="val 2078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737360"/>
            <a:ext cx="548640" cy="548640"/>
          </a:xfrm>
          <a:prstGeom prst="ellipse">
            <a:avLst/>
          </a:prstGeom>
          <a:solidFill>
            <a:srgbClr val="E8630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46888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dropped ~32% and hasn't recovered</a:t>
            </a:r>
            <a:endParaRPr lang="en-US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566160"/>
            <a:ext cx="2880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was flat and steady through all of 2024 and 2025 (~$105K/month). Starting February 2026, it fell to ~$71K/month and has stayed there for 5 straight months.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1417320"/>
            <a:ext cx="3520440" cy="4480560"/>
          </a:xfrm>
          <a:prstGeom prst="roundRect">
            <a:avLst>
              <a:gd name="adj" fmla="val 2078"/>
            </a:avLst>
          </a:prstGeom>
          <a:solidFill>
            <a:srgbClr val="F4F6FB"/>
          </a:solidFill>
          <a:ln/>
        </p:spPr>
      </p:sp>
      <p:sp>
        <p:nvSpPr>
          <p:cNvPr id="10" name="Shape 8"/>
          <p:cNvSpPr/>
          <p:nvPr/>
        </p:nvSpPr>
        <p:spPr>
          <a:xfrm>
            <a:off x="4663440" y="17373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6344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246888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VIP customers aren't outspending anyone</a:t>
            </a:r>
            <a:endParaRPr lang="en-US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3566160"/>
            <a:ext cx="2880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New, Regular and VIP customers each generate about $300 in revenue per customer. The VIP label isn't translating into extra spend — the loyalty tier has no measurable payoff yet.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38160" y="1417320"/>
            <a:ext cx="3520440" cy="4480560"/>
          </a:xfrm>
          <a:prstGeom prst="roundRect">
            <a:avLst>
              <a:gd name="adj" fmla="val 2078"/>
            </a:avLst>
          </a:prstGeom>
          <a:solidFill>
            <a:srgbClr val="F4F6FB"/>
          </a:solidFill>
          <a:ln/>
        </p:spPr>
      </p:sp>
      <p:sp>
        <p:nvSpPr>
          <p:cNvPr id="15" name="Shape 13"/>
          <p:cNvSpPr/>
          <p:nvPr/>
        </p:nvSpPr>
        <p:spPr>
          <a:xfrm>
            <a:off x="8458200" y="1737360"/>
            <a:ext cx="548640" cy="548640"/>
          </a:xfrm>
          <a:prstGeom prst="ellipse">
            <a:avLst/>
          </a:prstGeom>
          <a:solidFill>
            <a:srgbClr val="5B678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5820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8458200" y="246888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Bigger discounts don't grow the basket, they just cut revenue</a:t>
            </a:r>
            <a:endParaRPr lang="en-US" sz="1650" dirty="0"/>
          </a:p>
        </p:txBody>
      </p:sp>
      <p:sp>
        <p:nvSpPr>
          <p:cNvPr id="18" name="Text 16"/>
          <p:cNvSpPr txBox="1"/>
          <p:nvPr/>
        </p:nvSpPr>
        <p:spPr>
          <a:xfrm>
            <a:off x="8458200" y="3566160"/>
            <a:ext cx="2880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per order stay flat (~1.9) no matter the discount offered. A 30% discount doesn't sell more — it simply gives away 25% of the order's revenue.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GROWTH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Steady for two years, then a sharp, sustained drop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2606040" cy="1143000"/>
          </a:xfrm>
          <a:prstGeom prst="roundRect">
            <a:avLst>
              <a:gd name="adj" fmla="val 56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13232" y="1252728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$2.99M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1764792"/>
            <a:ext cx="2276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1993392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2024 – Jun 2026, completed &amp; paid orders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355848" y="1143000"/>
            <a:ext cx="2606040" cy="1143000"/>
          </a:xfrm>
          <a:prstGeom prst="roundRect">
            <a:avLst>
              <a:gd name="adj" fmla="val 5600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520440" y="1252728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49,830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1764792"/>
            <a:ext cx="2276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1993392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order lines in the period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163056" y="1143000"/>
            <a:ext cx="2606040" cy="1143000"/>
          </a:xfrm>
          <a:prstGeom prst="roundRect">
            <a:avLst>
              <a:gd name="adj" fmla="val 5600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327648" y="1252728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$69.99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6327648" y="1764792"/>
            <a:ext cx="2276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ORDER VALUE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327648" y="1993392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completed, paid order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8970264" y="1143000"/>
            <a:ext cx="2606040" cy="1143000"/>
          </a:xfrm>
          <a:prstGeom prst="roundRect">
            <a:avLst>
              <a:gd name="adj" fmla="val 5600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134856" y="1252728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8.0%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9134856" y="1764792"/>
            <a:ext cx="2276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 + RETURNED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9134856" y="1993392"/>
            <a:ext cx="2276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order lines placed</a:t>
            </a:r>
            <a:endParaRPr lang="en-US" sz="85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548640" y="2514600"/>
          <a:ext cx="1106424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Shape 18"/>
          <p:cNvSpPr/>
          <p:nvPr/>
        </p:nvSpPr>
        <p:spPr>
          <a:xfrm>
            <a:off x="8732520" y="2743200"/>
            <a:ext cx="2834640" cy="777240"/>
          </a:xfrm>
          <a:prstGeom prst="roundRect">
            <a:avLst>
              <a:gd name="adj" fmla="val 7059"/>
            </a:avLst>
          </a:prstGeom>
          <a:solidFill>
            <a:srgbClr val="E8630A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8851392" y="2788920"/>
            <a:ext cx="260604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2026 onward: revenue down ~32% vs. the 2024–25 average, for 5 months running</a:t>
            </a:r>
            <a:endParaRPr lang="en-US" sz="95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what: this isn't a blip — it's a new, lower normal that needs a root-cause fix, not a wait-and-see approach.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&amp; CATEGORIES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Electronics leads on revenue; everyday items lead on units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234440"/>
          <a:ext cx="548640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172200" y="1234440"/>
          <a:ext cx="548640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61722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what: the top sellers by revenue (Headphones, Office Chair, Tablet) are not the top sellers by units (Notebook, Phone Case, USB-C Cable) — pricing and bundling strategy should treat these two groups differently.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&amp; CITIES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Tehran leads by volume, but no segment stands out per customer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234440"/>
          <a:ext cx="676656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543800" y="1234440"/>
            <a:ext cx="4114800" cy="4846320"/>
          </a:xfrm>
          <a:prstGeom prst="roundRect">
            <a:avLst>
              <a:gd name="adj" fmla="val 1778"/>
            </a:avLst>
          </a:prstGeom>
          <a:solidFill>
            <a:srgbClr val="F4F6FB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818120" y="15087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per customer, by segment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818120" y="20574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18120" y="231343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$305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9281160" y="24231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3,407 customers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7818120" y="31089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7818120" y="336499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$302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9281160" y="3474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5,489 customers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7818120" y="41605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7818120" y="441655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6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$300</a:t>
            </a:r>
            <a:endParaRPr lang="en-US" sz="2600" dirty="0"/>
          </a:p>
        </p:txBody>
      </p:sp>
      <p:sp>
        <p:nvSpPr>
          <p:cNvPr id="15" name="Text 12"/>
          <p:cNvSpPr txBox="1"/>
          <p:nvPr/>
        </p:nvSpPr>
        <p:spPr>
          <a:xfrm>
            <a:off x="9281160" y="45262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962 customers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7818120" y="51663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 customers spend about the same per head as everyone else — the segment isn't yet a growth lever.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&amp; PAYMENT HEALTH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Fulfillment and payments are healthy and steady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234440"/>
          <a:ext cx="539496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263640" y="1234440"/>
          <a:ext cx="539496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61722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what: failure rates barely move across payment methods (3.65%–4.0% for Cash, Gateway, Wallet and Card-to-Card) — payments are not the cause of the Feb 2026 revenue drop; the shortfall is in traffic and order volume, not fulfillment.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Deeper discounts shrink revenue without growing the basket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280160"/>
          <a:ext cx="11064240" cy="4709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1722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what: units per order hold flat at ~1.9 no matter the discount, while revenue per order falls by up to 26% at 30% off — discounts here buy no extra volume, only lower margin.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moves for the Head of Operations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263680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783080"/>
            <a:ext cx="502920" cy="502920"/>
          </a:xfrm>
          <a:prstGeom prst="ellipse">
            <a:avLst/>
          </a:prstGeom>
          <a:solidFill>
            <a:srgbClr val="E8630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42316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and fix the Feb 2026 demand drop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33756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Orders/day fell ~31% in Feb 2026 and stayed down for 5 months, spread evenly across every category, city and payment method. That rules out a fulfillment or product problem — check marketing spend, site traffic, pricing changes and competitor activity from that period first.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43400" y="150876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263680"/>
          </a:solidFill>
          <a:ln/>
        </p:spPr>
      </p:sp>
      <p:sp>
        <p:nvSpPr>
          <p:cNvPr id="10" name="Shape 8"/>
          <p:cNvSpPr/>
          <p:nvPr/>
        </p:nvSpPr>
        <p:spPr>
          <a:xfrm>
            <a:off x="4617720" y="1783080"/>
            <a:ext cx="502920" cy="502920"/>
          </a:xfrm>
          <a:prstGeom prst="ellipse">
            <a:avLst/>
          </a:prstGeom>
          <a:solidFill>
            <a:srgbClr val="E8630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1772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242316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VIP status pay off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333756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 customers spend the same $300 per head as New and Regular customers. Build real VIP perks — early access, free shipping thresholds, bundles — and track revenue-per-customer by segment monthly to see if it moves.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38160" y="150876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263680"/>
          </a:solidFill>
          <a:ln/>
        </p:spPr>
      </p:sp>
      <p:sp>
        <p:nvSpPr>
          <p:cNvPr id="15" name="Shape 13"/>
          <p:cNvSpPr/>
          <p:nvPr/>
        </p:nvSpPr>
        <p:spPr>
          <a:xfrm>
            <a:off x="8412480" y="1783080"/>
            <a:ext cx="502920" cy="502920"/>
          </a:xfrm>
          <a:prstGeom prst="ellipse">
            <a:avLst/>
          </a:prstGeom>
          <a:solidFill>
            <a:srgbClr val="E8630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1248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242316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Replace blanket discounts with targeted offers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333756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Discounts up to 30% don't grow basket size (units stay ~1.9). Shift spend from broad price cuts to bundles (e.g. Headphones + accessory) and reserve deep discounts for genuine excess stock.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5349240"/>
            <a:ext cx="10881360" cy="9144"/>
          </a:xfrm>
          <a:prstGeom prst="rect">
            <a:avLst/>
          </a:prstGeom>
          <a:solidFill>
            <a:srgbClr val="5B678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5486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8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NOTES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7607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before analysis: removed 120 exact duplicate order rows, 30 orders tied to a placeholder customer ID (999999), and 105 orders with impossible or missing quantities. Standardized city spelling ("tehran"/"Tehran", "Mashad"/"Mashhad"). Filled missing discounts as 0% and missing payment method as "Unknown." Revenue counts only orders that are Completed and Paid — cancelled, returned, failed and refunded orders are excluded from all revenue figures.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2026-09-24T02:08:32Z</dcterms:created>
  <dcterms:modified xsi:type="dcterms:W3CDTF">2026-09-24T02:08:32Z</dcterms:modified>
</cp:coreProperties>
</file>